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A6415-1342-4A97-B44B-70D3502C572D}" v="1" dt="2026-02-26T12:30:24.491"/>
    <p1510:client id="{1975A171-13D2-402D-8BAC-13EB7DD73355}" v="1" dt="2026-02-26T12:25:28.876"/>
    <p1510:client id="{26E779B8-5FFC-4752-83FD-FC00E732AB9B}" v="13" dt="2026-02-26T14:33:04.082"/>
    <p1510:client id="{3019E0FC-6F22-414C-B522-EC353E638373}" v="166" dt="2026-02-26T12:25:04.431"/>
    <p1510:client id="{3F39BCC7-CAE1-4B3F-A115-0BFB014F3EE3}" v="600" dt="2026-02-26T11:40:15.529"/>
    <p1510:client id="{69693693-3A36-415F-AC41-D3F4D7C65043}" v="26" dt="2026-02-26T14:35:29.202"/>
    <p1510:client id="{8EDC2C5E-57C2-4924-8205-4741E908569E}" v="153" dt="2026-02-26T10:50:09.893"/>
    <p1510:client id="{B2554E73-56A2-4C8F-8D08-6C3AAD2B3101}" v="13" dt="2026-02-26T14:25:36.974"/>
    <p1510:client id="{BBDC6095-9F29-45B5-8256-DCBA3E4D8E62}" v="285" dt="2026-02-26T14:17:30.393"/>
    <p1510:client id="{CF9C8E19-6263-4E38-893A-8734BC479BA6}" v="65" dt="2026-02-26T14:43:04.832"/>
    <p1510:client id="{E46D05E2-30EA-4DBD-93C1-CB3C7B5B9700}" v="231" dt="2026-02-26T12:05:09.567"/>
    <p1510:client id="{EB366338-C27E-4814-B12B-677516EBAB71}" v="19" dt="2026-02-26T12:28:56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chatgpt:/generic-entity?number=6" TargetMode="External"/><Relationship Id="rId3" Type="http://schemas.openxmlformats.org/officeDocument/2006/relationships/hyperlink" Target="http://chatgpt:/generic-entity?number=1" TargetMode="External"/><Relationship Id="rId7" Type="http://schemas.openxmlformats.org/officeDocument/2006/relationships/hyperlink" Target="http://chatgpt:/generic-entity?number=5" TargetMode="External"/><Relationship Id="rId2" Type="http://schemas.openxmlformats.org/officeDocument/2006/relationships/hyperlink" Target="http://chatgpt:/generic-entity?number=0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chatgpt:/generic-entity?number=4" TargetMode="External"/><Relationship Id="rId5" Type="http://schemas.openxmlformats.org/officeDocument/2006/relationships/hyperlink" Target="http://chatgpt:/generic-entity?number=3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://chatgpt:/generic-entity?number=2" TargetMode="External"/><Relationship Id="rId9" Type="http://schemas.openxmlformats.org/officeDocument/2006/relationships/hyperlink" Target="http://chatgpt:/generic-entity?number=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Cloud storage">
            <a:extLst>
              <a:ext uri="{FF2B5EF4-FFF2-40B4-BE49-F238E27FC236}">
                <a16:creationId xmlns:a16="http://schemas.microsoft.com/office/drawing/2014/main" id="{9CE39AA0-9916-EB31-8E7C-64A2C0D2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9" r="24923" b="1139"/>
          <a:stretch>
            <a:fillRect/>
          </a:stretch>
        </p:blipFill>
        <p:spPr>
          <a:xfrm>
            <a:off x="3458174" y="10"/>
            <a:ext cx="8733826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90703" cy="216999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GB" sz="4800" b="1" dirty="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Remote Cloud Storage</a:t>
            </a:r>
            <a:br>
              <a:rPr lang="en-GB" sz="48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</a:br>
            <a:br>
              <a:rPr lang="en-GB" sz="4800">
                <a:latin typeface="Times New Roman"/>
                <a:ea typeface="+mj-lt"/>
                <a:cs typeface="Times New Roman"/>
              </a:rPr>
            </a:br>
            <a:r>
              <a:rPr lang="en-GB" sz="2000" dirty="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Project Proposal – </a:t>
            </a:r>
            <a:br>
              <a:rPr lang="en-GB" sz="200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</a:br>
            <a:r>
              <a:rPr lang="en-GB" sz="2000" dirty="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BSc CSIT 7th Semester</a:t>
            </a:r>
            <a:endParaRPr lang="en-US" dirty="0">
              <a:solidFill>
                <a:schemeClr val="bg1"/>
              </a:solidFill>
              <a:latin typeface="Aptos Display" panose="020F0302020204030204"/>
              <a:ea typeface="+mj-lt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3425122"/>
            <a:ext cx="4175759" cy="265594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l"/>
            <a:br>
              <a:rPr lang="en-GB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</a:br>
            <a:r>
              <a:rPr lang="en-GB" sz="16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Submitted by:                    </a:t>
            </a:r>
          </a:p>
          <a:p>
            <a:pPr marL="285750" indent="-285750" algn="l"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Kalyan Kandel                 </a:t>
            </a:r>
          </a:p>
          <a:p>
            <a:pPr marL="285750" indent="-285750" algn="l"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Aayush Subedi</a:t>
            </a:r>
          </a:p>
          <a:p>
            <a:pPr marL="285750" indent="-285750" algn="l">
              <a:buChar char="•"/>
            </a:pPr>
            <a:r>
              <a:rPr lang="en-GB" sz="16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Albert Baral</a:t>
            </a:r>
          </a:p>
          <a:p>
            <a:pPr marL="285750" indent="-285750" algn="l">
              <a:buChar char="•"/>
            </a:pPr>
            <a:endParaRPr lang="en-GB" sz="16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r>
              <a:rPr lang="en-GB" sz="19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Submitted to:</a:t>
            </a:r>
            <a:endParaRPr lang="en-GB" sz="16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r>
              <a:rPr lang="en-GB" sz="19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Department of Computer Science </a:t>
            </a:r>
          </a:p>
          <a:p>
            <a:pPr algn="l"/>
            <a:r>
              <a:rPr lang="en-GB" sz="19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Birendra Multiple Campus, </a:t>
            </a:r>
            <a:r>
              <a:rPr lang="en-GB" sz="1900" dirty="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Bharatpur</a:t>
            </a:r>
            <a:r>
              <a:rPr lang="en-GB" sz="19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, Chitwan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EAD12-B9BC-C61D-562E-28C9055DE3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4672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742950"/>
            <a:r>
              <a:rPr lang="en-US" sz="3600" b="1" kern="1200" dirty="0">
                <a:solidFill>
                  <a:schemeClr val="tx2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83B95-E1A5-775A-8C4C-D6F22E8BC67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/>
                <a:cs typeface="Times New Roman"/>
              </a:rPr>
              <a:t>We generate lots of data daily: notes, videos, projects, photos.</a:t>
            </a:r>
          </a:p>
          <a:p>
            <a:r>
              <a:rPr lang="en-US" sz="1600" dirty="0">
                <a:solidFill>
                  <a:schemeClr val="tx2"/>
                </a:solidFill>
                <a:latin typeface="Times New Roman"/>
                <a:cs typeface="Times New Roman"/>
              </a:rPr>
              <a:t>Local storage is risky in Nepal: limited space , data loss from power cuts, viruses, accidents.</a:t>
            </a:r>
          </a:p>
          <a:p>
            <a:r>
              <a:rPr lang="en-US" sz="1600" dirty="0">
                <a:solidFill>
                  <a:schemeClr val="tx2"/>
                </a:solidFill>
                <a:latin typeface="Times New Roman"/>
                <a:cs typeface="Times New Roman"/>
              </a:rPr>
              <a:t>Remote cloud storage lets us upload files to a server and access them from anywhere with internet.</a:t>
            </a:r>
          </a:p>
          <a:p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180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/>
                <a:cs typeface="Times New Roman"/>
              </a:endParaRPr>
            </a:p>
          </p:txBody>
        </p:sp>
      </p:grpSp>
      <p:pic>
        <p:nvPicPr>
          <p:cNvPr id="7" name="Graphic 6" descr="Disk">
            <a:extLst>
              <a:ext uri="{FF2B5EF4-FFF2-40B4-BE49-F238E27FC236}">
                <a16:creationId xmlns:a16="http://schemas.microsoft.com/office/drawing/2014/main" id="{9D568101-D84C-C7DF-9E23-592D4604E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BC9657-9403-DDDA-6FB1-70CA59BCBA7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538750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latin typeface="Times New Roman"/>
                <a:cs typeface="Times New Roman"/>
              </a:rPr>
              <a:t>Our project:</a:t>
            </a:r>
            <a:r>
              <a:rPr lang="en-US" sz="1600" dirty="0">
                <a:latin typeface="Times New Roman"/>
                <a:cs typeface="Times New Roman"/>
              </a:rPr>
              <a:t> Build a simple, private cloud storage prototype (like personal Dropbox) running on our laptops.</a:t>
            </a:r>
          </a:p>
          <a:p>
            <a:pPr marL="0"/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Why important for us:</a:t>
            </a:r>
          </a:p>
          <a:p>
            <a:pPr lvl="1"/>
            <a:r>
              <a:rPr lang="en-US" sz="1600" dirty="0">
                <a:latin typeface="Times New Roman"/>
                <a:cs typeface="Times New Roman"/>
              </a:rPr>
              <a:t>Applies Web Technology, Networking, Software Engineering skills from syllabus.</a:t>
            </a:r>
          </a:p>
          <a:p>
            <a:pPr lvl="1"/>
            <a:r>
              <a:rPr lang="en-US" sz="1600" dirty="0">
                <a:latin typeface="Times New Roman"/>
                <a:cs typeface="Times New Roman"/>
              </a:rPr>
              <a:t>Helps share group projects/notes without WhatsApp/email limits.</a:t>
            </a:r>
          </a:p>
          <a:p>
            <a:pPr lvl="1"/>
            <a:r>
              <a:rPr lang="en-US" sz="1600" dirty="0">
                <a:latin typeface="Times New Roman"/>
                <a:cs typeface="Times New Roman"/>
              </a:rPr>
              <a:t>Low-cost, privacy-focused solution for Nepali students.</a:t>
            </a:r>
          </a:p>
          <a:p>
            <a:pPr lvl="1"/>
            <a:endParaRPr lang="en-US" sz="1500">
              <a:latin typeface="Times New Roman"/>
              <a:cs typeface="Times New Roman"/>
            </a:endParaRPr>
          </a:p>
          <a:p>
            <a:endParaRPr lang="en-US" sz="1500">
              <a:latin typeface="Times New Roman"/>
              <a:cs typeface="Times New Roman"/>
            </a:endParaRPr>
          </a:p>
          <a:p>
            <a:endParaRPr lang="en-US" sz="150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752DB-BFC0-1B9F-744D-C52CD8F0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47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5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6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87790-FFA7-80C3-9C7F-ED8AFFF2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/>
                <a:ea typeface="+mj-lt"/>
                <a:cs typeface="Times New Roman"/>
              </a:rPr>
              <a:t>2. Problem Statement</a:t>
            </a:r>
            <a:endParaRPr lang="en-US" b="1" dirty="0">
              <a:latin typeface="Times New Roman"/>
              <a:cs typeface="Times New Roman"/>
            </a:endParaRPr>
          </a:p>
          <a:p>
            <a:endParaRPr lang="en-GB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09CAB-4089-0E17-EB90-E6A68D87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600" dirty="0">
                <a:latin typeface="Times New Roman"/>
                <a:ea typeface="+mn-lt"/>
                <a:cs typeface="Times New Roman"/>
              </a:rPr>
              <a:t>Limited local storage: Phones/laptops fill up fast with lecture videos, notes, projects.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dirty="0">
                <a:latin typeface="Times New Roman"/>
                <a:ea typeface="+mn-lt"/>
                <a:cs typeface="Times New Roman"/>
              </a:rPr>
              <a:t>High risk of data loss: Device damage, formatting, viruses, power cuts.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dirty="0">
                <a:latin typeface="Times New Roman"/>
                <a:ea typeface="+mn-lt"/>
                <a:cs typeface="Times New Roman"/>
              </a:rPr>
              <a:t>Difficult file sharing: Email size limits (25 MB), WhatsApp compression, USB loss.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dirty="0">
                <a:latin typeface="Times New Roman"/>
                <a:ea typeface="+mn-lt"/>
                <a:cs typeface="Times New Roman"/>
              </a:rPr>
              <a:t>Commercial clouds: Costly for extra space, slow in Nepal, privacy concerns (data on foreign servers).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dirty="0">
                <a:latin typeface="Times New Roman"/>
                <a:ea typeface="+mn-lt"/>
                <a:cs typeface="Times New Roman"/>
              </a:rPr>
              <a:t>No simple, free, private alternative for students in Chitwan/Nepal.</a:t>
            </a:r>
            <a:endParaRPr lang="en-GB" sz="1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2000">
              <a:latin typeface="Times New Roman"/>
              <a:cs typeface="Times New Roman"/>
            </a:endParaRPr>
          </a:p>
          <a:p>
            <a:endParaRPr lang="en-GB" sz="2000">
              <a:latin typeface="Times New Roman"/>
              <a:cs typeface="Times New Roman"/>
            </a:endParaRPr>
          </a:p>
          <a:p>
            <a:endParaRPr lang="en-GB" sz="2000">
              <a:latin typeface="Times New Roman"/>
              <a:cs typeface="Times New Roman"/>
            </a:endParaRPr>
          </a:p>
        </p:txBody>
      </p:sp>
      <p:pic>
        <p:nvPicPr>
          <p:cNvPr id="5" name="Picture 4" descr="A white rectangular object with a orange folder&#10;&#10;AI-generated content may be incorrect.">
            <a:extLst>
              <a:ext uri="{FF2B5EF4-FFF2-40B4-BE49-F238E27FC236}">
                <a16:creationId xmlns:a16="http://schemas.microsoft.com/office/drawing/2014/main" id="{854DE5D7-1AF6-82CC-2764-BDC453D57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17240-DC57-A440-7D58-98B9488D15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>
                <a:solidFill>
                  <a:srgbClr val="FFFFFF"/>
                </a:solidFill>
                <a:latin typeface="Times New Roman"/>
                <a:cs typeface="Times New Roman"/>
              </a:rPr>
              <a:t>3. </a:t>
            </a:r>
            <a:br>
              <a:rPr lang="en-US" sz="4000" b="1" kern="1200">
                <a:solidFill>
                  <a:srgbClr val="FFFFFF"/>
                </a:solidFill>
                <a:latin typeface="Times New Roman"/>
                <a:cs typeface="Times New Roman"/>
              </a:rPr>
            </a:br>
            <a:r>
              <a:rPr lang="en-US" sz="4000" b="1" kern="1200" dirty="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</a:p>
          <a:p>
            <a:pPr algn="r"/>
            <a:endParaRPr lang="en-US" sz="4000" kern="12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52B9-38B5-4A40-2857-D65BB6DF98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General Objective : To build a simple remote </a:t>
            </a:r>
            <a:r>
              <a:rPr lang="en-US" sz="1600" err="1">
                <a:latin typeface="Times New Roman"/>
                <a:cs typeface="Times New Roman"/>
              </a:rPr>
              <a:t>cloudstorage</a:t>
            </a:r>
            <a:r>
              <a:rPr lang="en-US" sz="1600" dirty="0">
                <a:latin typeface="Times New Roman"/>
                <a:cs typeface="Times New Roman"/>
              </a:rPr>
              <a:t> prototype for file upload, storage, access, and sharing – demonstrated on local computers.</a:t>
            </a:r>
          </a:p>
          <a:p>
            <a:pPr marL="0" indent="0">
              <a:buNone/>
            </a:pP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Specific Objectives</a:t>
            </a:r>
          </a:p>
          <a:p>
            <a:pPr marL="800100" lvl="1"/>
            <a:r>
              <a:rPr lang="en-US" sz="1600" dirty="0">
                <a:latin typeface="Times New Roman"/>
                <a:cs typeface="Times New Roman"/>
              </a:rPr>
              <a:t>Enable file upload, download, list, and delete (core features).</a:t>
            </a:r>
          </a:p>
          <a:p>
            <a:pPr marL="800100" lvl="1"/>
            <a:r>
              <a:rPr lang="en-US" sz="1600" dirty="0">
                <a:latin typeface="Times New Roman"/>
                <a:cs typeface="Times New Roman"/>
              </a:rPr>
              <a:t>Create user-friendly registration and login interface </a:t>
            </a:r>
          </a:p>
          <a:p>
            <a:pPr marL="800100" lvl="1"/>
            <a:r>
              <a:rPr lang="en-US" sz="1600" dirty="0">
                <a:latin typeface="Times New Roman"/>
                <a:cs typeface="Times New Roman"/>
              </a:rPr>
              <a:t>Add basic folder organization.</a:t>
            </a:r>
          </a:p>
          <a:p>
            <a:pPr marL="800100" lvl="1"/>
            <a:r>
              <a:rPr lang="en-US" sz="1600" dirty="0">
                <a:latin typeface="Times New Roman"/>
                <a:cs typeface="Times New Roman"/>
              </a:rPr>
              <a:t>Implement simple file sharing via links.</a:t>
            </a:r>
          </a:p>
          <a:p>
            <a:pPr marL="800100" lvl="1"/>
            <a:r>
              <a:rPr lang="en-US" sz="1600" dirty="0">
                <a:latin typeface="Times New Roman"/>
                <a:cs typeface="Times New Roman"/>
              </a:rPr>
              <a:t>Build responsive frontend with HTML/CSS/JS, upgrading to React.js.</a:t>
            </a:r>
          </a:p>
          <a:p>
            <a:pPr marL="800100" lvl="1"/>
            <a:r>
              <a:rPr lang="en-US" sz="1600" dirty="0">
                <a:latin typeface="Times New Roman"/>
                <a:cs typeface="Times New Roman"/>
              </a:rPr>
              <a:t>Connect frontend to backend APIs.</a:t>
            </a:r>
          </a:p>
          <a:p>
            <a:pPr marL="800100" lvl="1"/>
            <a:r>
              <a:rPr lang="en-US" sz="1600" dirty="0">
                <a:latin typeface="Times New Roman"/>
                <a:cs typeface="Times New Roman"/>
              </a:rPr>
              <a:t>Prepare working demo on laptops within 3 months.</a:t>
            </a:r>
          </a:p>
          <a:p>
            <a:pPr marL="800100" lvl="1"/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505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9C5FB-5AB3-2621-964F-D6CB86D17A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Times New Roman"/>
                <a:cs typeface="Times New Roman"/>
              </a:rPr>
              <a:t>4. Methodology</a:t>
            </a:r>
          </a:p>
          <a:p>
            <a:pPr algn="r"/>
            <a:endParaRPr lang="en-US" sz="4000" kern="12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258D4-92EF-0BCC-7A77-F8686DC2CB3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810259" y="4711"/>
            <a:ext cx="6555347" cy="671835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We use client-server model: browser (frontend) ↔ local server (backend).</a:t>
            </a:r>
          </a:p>
          <a:p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Team roles:</a:t>
            </a:r>
          </a:p>
          <a:p>
            <a:pPr lvl="1"/>
            <a:r>
              <a:rPr lang="en-US" sz="1600" dirty="0">
                <a:latin typeface="Times New Roman"/>
                <a:cs typeface="Times New Roman"/>
              </a:rPr>
              <a:t>Kalyan Kandel: Frontend UI development, Component design, API integration, Responsive layouts, User experience</a:t>
            </a:r>
          </a:p>
          <a:p>
            <a:pPr lvl="1"/>
            <a:r>
              <a:rPr lang="en-US" sz="1600" dirty="0">
                <a:latin typeface="Times New Roman"/>
                <a:cs typeface="Times New Roman"/>
              </a:rPr>
              <a:t>Aayush Subedi: Backend API development, Database design, Core file operations, User management, Bonding system logic</a:t>
            </a:r>
          </a:p>
          <a:p>
            <a:pPr lvl="1"/>
            <a:r>
              <a:rPr lang="en-US" sz="1600" dirty="0">
                <a:latin typeface="Times New Roman"/>
                <a:cs typeface="Times New Roman"/>
              </a:rPr>
              <a:t>Albert Baral: Security implementation, Encryption (at rest &amp; in transit), Penetration testing, Unit testing, Integration testing, Performance testing</a:t>
            </a:r>
          </a:p>
          <a:p>
            <a:pPr lvl="1"/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Tools :</a:t>
            </a:r>
          </a:p>
          <a:p>
            <a:pPr lvl="1"/>
            <a:r>
              <a:rPr lang="en-US" sz="1600" dirty="0">
                <a:latin typeface="Times New Roman"/>
                <a:ea typeface="+mn-lt"/>
                <a:cs typeface="Times New Roman"/>
              </a:rPr>
              <a:t>Frontend: HTML, CSS (or Tailwind CSS), JavaScript, React (planned), Axios</a:t>
            </a:r>
          </a:p>
          <a:p>
            <a:pPr lvl="1"/>
            <a:r>
              <a:rPr lang="en-US" sz="1600" dirty="0">
                <a:latin typeface="Times New Roman"/>
                <a:ea typeface="+mn-lt"/>
                <a:cs typeface="Times New Roman"/>
              </a:rPr>
              <a:t>Backend: Node.js, Express.js, JWT (authentication),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bcrypt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(password hashing), Helmet.js</a:t>
            </a:r>
          </a:p>
          <a:p>
            <a:pPr lvl="1"/>
            <a:r>
              <a:rPr lang="en-US" sz="1600" dirty="0">
                <a:latin typeface="Times New Roman"/>
                <a:ea typeface="+mn-lt"/>
                <a:cs typeface="Times New Roman"/>
              </a:rPr>
              <a:t>Database: MongoDB (with Mongoose) or SQLite</a:t>
            </a:r>
          </a:p>
          <a:p>
            <a:pPr lvl="1"/>
            <a:r>
              <a:rPr lang="en-US" sz="1600" dirty="0">
                <a:latin typeface="Times New Roman"/>
                <a:ea typeface="+mn-lt"/>
                <a:cs typeface="Times New Roman"/>
              </a:rPr>
              <a:t>Security: HTTPS/TLS, JWT, </a:t>
            </a:r>
            <a:r>
              <a:rPr lang="en-US" sz="1600" dirty="0" err="1">
                <a:latin typeface="Times New Roman"/>
                <a:ea typeface="+mn-lt"/>
                <a:cs typeface="Times New Roman"/>
              </a:rPr>
              <a:t>bcrypt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, Input validation</a:t>
            </a:r>
            <a:endParaRPr lang="en-US" sz="1600" dirty="0">
              <a:latin typeface="Times New Roman"/>
              <a:cs typeface="Times New Roman"/>
            </a:endParaRPr>
          </a:p>
          <a:p>
            <a:pPr lvl="1"/>
            <a:r>
              <a:rPr lang="en-US" sz="1600" dirty="0">
                <a:latin typeface="Times New Roman"/>
                <a:ea typeface="+mn-lt"/>
                <a:cs typeface="Times New Roman"/>
              </a:rPr>
              <a:t>Testing: Jest (unit testing), 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Supertest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(API testing), Postman</a:t>
            </a:r>
            <a:endParaRPr lang="en-US" sz="1600" dirty="0">
              <a:latin typeface="Times New Roman"/>
              <a:cs typeface="Times New Roman"/>
            </a:endParaRPr>
          </a:p>
          <a:p>
            <a:pPr lvl="1"/>
            <a:r>
              <a:rPr lang="en-US" sz="1600" dirty="0">
                <a:latin typeface="Times New Roman"/>
                <a:ea typeface="+mn-lt"/>
                <a:cs typeface="Times New Roman"/>
              </a:rPr>
              <a:t>Development: VS Code, Git/GitHub, Localhost testing, (Optional) Docker</a:t>
            </a:r>
            <a:endParaRPr lang="en-US" sz="1600" dirty="0">
              <a:latin typeface="Times New Roman"/>
              <a:cs typeface="Times New Roman"/>
            </a:endParaRPr>
          </a:p>
          <a:p>
            <a:pPr marL="0"/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790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87B91-D888-9364-4496-CAE32A1A91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br>
              <a:rPr lang="en-US" sz="4000" b="1" kern="1200">
                <a:solidFill>
                  <a:srgbClr val="FFFFFF"/>
                </a:solidFill>
                <a:latin typeface="Times New Roman"/>
                <a:cs typeface="Times New Roman"/>
              </a:rPr>
            </a:br>
            <a:r>
              <a:rPr lang="en-US" sz="4000" b="1" kern="1200">
                <a:solidFill>
                  <a:srgbClr val="FFFFFF"/>
                </a:solidFill>
                <a:latin typeface="Times New Roman"/>
                <a:cs typeface="Times New Roman"/>
              </a:rPr>
              <a:t>4.a Requirement Identification</a:t>
            </a:r>
            <a:endParaRPr lang="en-US" sz="4000" kern="12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285750" indent="-285750" algn="r"/>
            <a:endParaRPr lang="en-US" sz="4000" kern="12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r"/>
            <a:endParaRPr lang="en-US" sz="4000" kern="12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4963E-AD93-5688-C03F-194DAE58E8B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30630" y="100797"/>
            <a:ext cx="7523437" cy="663203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/>
                <a:cs typeface="Times New Roman"/>
              </a:rPr>
              <a:t>     Existing Systems Review</a:t>
            </a: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Reviewed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Google Drive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Dropbox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,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Microsoft OneDrive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Strengths: cross-device access, auto-sync, collaboration, free storage (15GB typical)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Weaknesses: subscription costs, privacy concerns, slower speeds in Nepal, vendor lock-in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Studied </a:t>
            </a:r>
            <a:r>
              <a:rPr lang="en-US" sz="1600" b="1" dirty="0" err="1">
                <a:latin typeface="Times New Roman"/>
                <a:ea typeface="+mn-lt"/>
                <a:cs typeface="Times New Roman"/>
              </a:rPr>
              <a:t>Nextcloud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(open-source)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Advantages: self-hosted, full data ownership, no recurring cost, customizable security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Insight: Commercial = scalable but costly; Open-source = flexible but technical setup</a:t>
            </a:r>
            <a:endParaRPr lang="en-US" sz="1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/>
                <a:cs typeface="Times New Roman"/>
              </a:rPr>
              <a:t>     Requirement Analysis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b="1" dirty="0">
                <a:latin typeface="Times New Roman"/>
                <a:ea typeface="+mn-lt"/>
                <a:cs typeface="Times New Roman"/>
              </a:rPr>
              <a:t>Core Features:</a:t>
            </a:r>
            <a:endParaRPr lang="en-US" sz="1600" b="1">
              <a:latin typeface="Times New Roman"/>
              <a:ea typeface="+mn-lt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Secure authentication (hashed passwords)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File upload (≤100MB), preview, download, rename, delete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Folder organization system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Shareable file links</a:t>
            </a: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Storage usage dashboard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Responsive design </a:t>
            </a:r>
            <a:endParaRPr lang="en-US" sz="1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   Non-Functional:</a:t>
            </a:r>
            <a:endParaRPr lang="en-US" sz="1600" b="1">
              <a:latin typeface="Times New Roman"/>
              <a:ea typeface="+mn-lt"/>
              <a:cs typeface="Times New Roman"/>
            </a:endParaRP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Easy to use</a:t>
            </a:r>
          </a:p>
          <a:p>
            <a:r>
              <a:rPr lang="en-US" sz="1600" dirty="0">
                <a:latin typeface="Times New Roman"/>
                <a:ea typeface="+mn-lt"/>
                <a:cs typeface="Times New Roman"/>
              </a:rPr>
              <a:t>Reliable on local networks</a:t>
            </a:r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5921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0" name="Rectangle 29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2" name="Rectangle 30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0" name="Freeform: Shape 30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D1E33-0C25-D426-0F2C-DB26EB43B5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</a:t>
            </a:r>
            <a:r>
              <a:rPr lang="en-US" sz="4000" b="1" dirty="0">
                <a:solidFill>
                  <a:srgbClr val="FFFFFF"/>
                </a:solidFill>
              </a:rPr>
              <a:t>b</a:t>
            </a:r>
            <a:br>
              <a:rPr lang="en-US" sz="4000" b="1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</a:rPr>
              <a:t>Feasibility Study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/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5" name="Content Placeholder 294">
            <a:extLst>
              <a:ext uri="{FF2B5EF4-FFF2-40B4-BE49-F238E27FC236}">
                <a16:creationId xmlns:a16="http://schemas.microsoft.com/office/drawing/2014/main" id="{95668243-6814-71AB-9D6F-348F0D92866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03431" y="333795"/>
            <a:ext cx="7398570" cy="62915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Times New Roman"/>
                <a:cs typeface="Times New Roman"/>
              </a:rPr>
              <a:t>    Technical Feasibility</a:t>
            </a:r>
            <a:endParaRPr lang="en-US" sz="1600" dirty="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Built using modern, open-source web technologies within a 3-month timeline</a:t>
            </a:r>
            <a:endParaRPr lang="en-US" sz="160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Cloud-based client–server architecture ensuring remote accessibility</a:t>
            </a:r>
            <a:endParaRPr lang="en-US" sz="160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Frontend: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React (JavaScript, JSX, CSS) for responsive user interface</a:t>
            </a:r>
            <a:endParaRPr lang="en-US" sz="160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Backend: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Node.js &amp; Express for RESTful API services</a:t>
            </a:r>
            <a:endParaRPr lang="en-US" sz="160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b="1" dirty="0">
                <a:latin typeface="Times New Roman"/>
                <a:ea typeface="+mn-lt"/>
                <a:cs typeface="Times New Roman"/>
              </a:rPr>
              <a:t>Database: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SQLite/PostgreSQL for secure metadata management</a:t>
            </a:r>
            <a:endParaRPr lang="en-US" sz="160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Remote server file storage with encryption (at rest &amp; in transit)</a:t>
            </a:r>
            <a:endParaRPr lang="en-US" sz="160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Secure authentication using JWT and password hashing (</a:t>
            </a:r>
            <a:r>
              <a:rPr lang="en-US" sz="1600" err="1">
                <a:latin typeface="Times New Roman"/>
                <a:ea typeface="+mn-lt"/>
                <a:cs typeface="Times New Roman"/>
              </a:rPr>
              <a:t>bcrypt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)</a:t>
            </a: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Scalable architecture allowing future cloud deployment and feature expansio</a:t>
            </a:r>
            <a:r>
              <a:rPr lang="en-US" sz="1600" dirty="0">
                <a:ea typeface="+mn-lt"/>
                <a:cs typeface="+mn-lt"/>
              </a:rPr>
              <a:t>n</a:t>
            </a:r>
            <a:endParaRPr lang="en-US" dirty="0"/>
          </a:p>
          <a:p>
            <a:pPr indent="0">
              <a:lnSpc>
                <a:spcPct val="100000"/>
              </a:lnSpc>
            </a:pPr>
            <a:endParaRPr lang="en-US" sz="1600" dirty="0">
              <a:latin typeface="Aptos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Times New Roman"/>
                <a:cs typeface="Times New Roman"/>
              </a:rPr>
              <a:t>     Economic Feasibility</a:t>
            </a:r>
            <a:endParaRPr lang="en-US" sz="1600" dirty="0">
              <a:latin typeface="Times New Roman"/>
              <a:cs typeface="Times New Roman"/>
            </a:endParaRP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cs typeface="Times New Roman"/>
              </a:rPr>
              <a:t>All development tools are free (Node.js, Express, React, SQLite, VS Code,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/>
                <a:cs typeface="Times New Roman"/>
              </a:rPr>
              <a:t>     Git)</a:t>
            </a:r>
            <a:endParaRPr lang="en-US" dirty="0"/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cs typeface="Times New Roman"/>
              </a:rPr>
              <a:t>Prototype hosted on free/low-cost cloud platforms</a:t>
            </a: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cs typeface="Times New Roman"/>
              </a:rPr>
              <a:t>No major infrastructure investment required</a:t>
            </a: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cs typeface="Times New Roman"/>
              </a:rPr>
              <a:t>Future deployment possible via free tiers (Render/other providers)</a:t>
            </a:r>
          </a:p>
          <a:p>
            <a:pPr indent="0">
              <a:lnSpc>
                <a:spcPct val="100000"/>
              </a:lnSpc>
            </a:pPr>
            <a:r>
              <a:rPr lang="en-US" sz="1600" dirty="0">
                <a:latin typeface="Times New Roman"/>
                <a:cs typeface="Times New Roman"/>
              </a:rPr>
              <a:t>Cost-effective alternative to commercial cloud storage subscriptions</a:t>
            </a:r>
          </a:p>
          <a:p>
            <a:pPr marL="0"/>
            <a:endParaRPr lang="en-US" sz="800" dirty="0">
              <a:latin typeface="Aptos" panose="020B0004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364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23F4AF-315C-FF72-78EC-975C169DA2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br>
              <a:rPr lang="en-US" sz="4000" b="1" kern="1200" dirty="0"/>
            </a:b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4.b</a:t>
            </a:r>
            <a:br>
              <a:rPr lang="en-US" sz="4000" b="1" kern="1200" dirty="0"/>
            </a:b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Feasibility Study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D0C4-28AB-D45E-94A0-4DBB7140BFD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/>
                <a:cs typeface="Times New Roman"/>
              </a:rPr>
              <a:t>     Operational Feasibility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cs typeface="Times New Roman"/>
              </a:rPr>
              <a:t>Accessible remotely via browser (no installation required)</a:t>
            </a:r>
          </a:p>
          <a:p>
            <a:r>
              <a:rPr lang="en-US" sz="1600" dirty="0">
                <a:latin typeface="Times New Roman"/>
                <a:cs typeface="Times New Roman"/>
              </a:rPr>
              <a:t>User-friendly interface for students</a:t>
            </a:r>
          </a:p>
          <a:p>
            <a:r>
              <a:rPr lang="en-US" sz="1600" dirty="0">
                <a:latin typeface="Times New Roman"/>
                <a:cs typeface="Times New Roman"/>
              </a:rPr>
              <a:t>Centralized storage accessible from multiple devices</a:t>
            </a:r>
          </a:p>
          <a:p>
            <a:r>
              <a:rPr lang="en-US" sz="1600" dirty="0">
                <a:latin typeface="Times New Roman"/>
                <a:cs typeface="Times New Roman"/>
              </a:rPr>
              <a:t>Secure login and controlled file access</a:t>
            </a:r>
          </a:p>
          <a:p>
            <a:r>
              <a:rPr lang="en-US" sz="1600" dirty="0">
                <a:latin typeface="Times New Roman"/>
                <a:cs typeface="Times New Roman"/>
              </a:rPr>
              <a:t>Easy maintenance and future scalability</a:t>
            </a:r>
          </a:p>
          <a:p>
            <a:r>
              <a:rPr lang="en-US" sz="1600" dirty="0">
                <a:latin typeface="Times New Roman"/>
                <a:cs typeface="Times New Roman"/>
              </a:rPr>
              <a:t>Suitable for low-to-moderate bandwidth environments</a:t>
            </a:r>
          </a:p>
        </p:txBody>
      </p:sp>
    </p:spTree>
    <p:extLst>
      <p:ext uri="{BB962C8B-B14F-4D97-AF65-F5344CB8AC3E}">
        <p14:creationId xmlns:p14="http://schemas.microsoft.com/office/powerpoint/2010/main" val="121484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D9535-C634-9B19-6425-60F33C0ADB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Schedule </a:t>
            </a:r>
            <a:b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</a:br>
            <a:endParaRPr lang="en-US" sz="2800" dirty="0">
              <a:latin typeface="Times New Roman"/>
              <a:cs typeface="Times New Roman"/>
            </a:endParaRP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/>
                <a:cs typeface="Times New Roman"/>
              </a:rPr>
              <a:t>Sprint-Based Timeline (12 Weeks)</a:t>
            </a:r>
            <a:endParaRPr lang="en-US" sz="1400" dirty="0">
              <a:latin typeface="Times New Roman"/>
              <a:cs typeface="Times New Roman"/>
            </a:endParaRPr>
          </a:p>
          <a:p>
            <a:pPr algn="ctr"/>
            <a:endParaRPr lang="en-US" sz="2600" kern="12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BBFEE2-4025-C6EC-CE13-C7603815A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80076"/>
              </p:ext>
            </p:extLst>
          </p:nvPr>
        </p:nvGraphicFramePr>
        <p:xfrm>
          <a:off x="4038600" y="1543394"/>
          <a:ext cx="7219165" cy="4383396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809280">
                  <a:extLst>
                    <a:ext uri="{9D8B030D-6E8A-4147-A177-3AD203B41FA5}">
                      <a16:colId xmlns:a16="http://schemas.microsoft.com/office/drawing/2014/main" val="3646097569"/>
                    </a:ext>
                  </a:extLst>
                </a:gridCol>
                <a:gridCol w="760645">
                  <a:extLst>
                    <a:ext uri="{9D8B030D-6E8A-4147-A177-3AD203B41FA5}">
                      <a16:colId xmlns:a16="http://schemas.microsoft.com/office/drawing/2014/main" val="888148494"/>
                    </a:ext>
                  </a:extLst>
                </a:gridCol>
                <a:gridCol w="1315081">
                  <a:extLst>
                    <a:ext uri="{9D8B030D-6E8A-4147-A177-3AD203B41FA5}">
                      <a16:colId xmlns:a16="http://schemas.microsoft.com/office/drawing/2014/main" val="20675316"/>
                    </a:ext>
                  </a:extLst>
                </a:gridCol>
                <a:gridCol w="2102961">
                  <a:extLst>
                    <a:ext uri="{9D8B030D-6E8A-4147-A177-3AD203B41FA5}">
                      <a16:colId xmlns:a16="http://schemas.microsoft.com/office/drawing/2014/main" val="4243309053"/>
                    </a:ext>
                  </a:extLst>
                </a:gridCol>
                <a:gridCol w="2231198">
                  <a:extLst>
                    <a:ext uri="{9D8B030D-6E8A-4147-A177-3AD203B41FA5}">
                      <a16:colId xmlns:a16="http://schemas.microsoft.com/office/drawing/2014/main" val="1533713308"/>
                    </a:ext>
                  </a:extLst>
                </a:gridCol>
              </a:tblGrid>
              <a:tr h="2381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effectLst/>
                          <a:latin typeface="Times New Roman"/>
                          <a:cs typeface="Times New Roman"/>
                        </a:rPr>
                        <a:t>Sprint</a:t>
                      </a:r>
                      <a:endParaRPr lang="en-GB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effectLst/>
                          <a:latin typeface="Times New Roman"/>
                          <a:cs typeface="Times New Roman"/>
                        </a:rPr>
                        <a:t>Weeks</a:t>
                      </a:r>
                      <a:endParaRPr lang="en-GB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effectLst/>
                          <a:latin typeface="Times New Roman"/>
                          <a:cs typeface="Times New Roman"/>
                        </a:rPr>
                        <a:t>Focus Area</a:t>
                      </a:r>
                      <a:endParaRPr lang="en-GB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effectLst/>
                          <a:latin typeface="Times New Roman"/>
                          <a:cs typeface="Times New Roman"/>
                        </a:rPr>
                        <a:t>Key Deliverables</a:t>
                      </a:r>
                      <a:endParaRPr lang="en-GB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effectLst/>
                          <a:latin typeface="Times New Roman"/>
                          <a:cs typeface="Times New Roman"/>
                        </a:rPr>
                        <a:t>Team Member Focus</a:t>
                      </a:r>
                      <a:endParaRPr lang="en-GB" sz="140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52525" marR="52525" marT="0" marB="0"/>
                </a:tc>
                <a:extLst>
                  <a:ext uri="{0D108BD9-81ED-4DB2-BD59-A6C34878D82A}">
                    <a16:rowId xmlns:a16="http://schemas.microsoft.com/office/drawing/2014/main" val="3593710463"/>
                  </a:ext>
                </a:extLst>
              </a:tr>
              <a:tr h="44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Sprint 1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1-2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Foundation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Project setup, DB design, security architecture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All: Planning</a:t>
                      </a:r>
                    </a:p>
                  </a:txBody>
                  <a:tcPr marL="52525" marR="52525" marT="0" marB="0"/>
                </a:tc>
                <a:extLst>
                  <a:ext uri="{0D108BD9-81ED-4DB2-BD59-A6C34878D82A}">
                    <a16:rowId xmlns:a16="http://schemas.microsoft.com/office/drawing/2014/main" val="202041036"/>
                  </a:ext>
                </a:extLst>
              </a:tr>
              <a:tr h="65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Sprint 2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3-4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Authentication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Working login/register, JWT, secure auth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Aayush: Backend auth, Kalyan: Auth UI, Albert: Security review</a:t>
                      </a:r>
                    </a:p>
                  </a:txBody>
                  <a:tcPr marL="52525" marR="52525" marT="0" marB="0"/>
                </a:tc>
                <a:extLst>
                  <a:ext uri="{0D108BD9-81ED-4DB2-BD59-A6C34878D82A}">
                    <a16:rowId xmlns:a16="http://schemas.microsoft.com/office/drawing/2014/main" val="1095692999"/>
                  </a:ext>
                </a:extLst>
              </a:tr>
              <a:tr h="65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Sprint 3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5-6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File Operations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File upload/download APIs, encryption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Aayush: File APIs, Albert: Encryption, Kalyan: Basic UI</a:t>
                      </a:r>
                    </a:p>
                  </a:txBody>
                  <a:tcPr marL="52525" marR="52525" marT="0" marB="0"/>
                </a:tc>
                <a:extLst>
                  <a:ext uri="{0D108BD9-81ED-4DB2-BD59-A6C34878D82A}">
                    <a16:rowId xmlns:a16="http://schemas.microsoft.com/office/drawing/2014/main" val="2483688703"/>
                  </a:ext>
                </a:extLst>
              </a:tr>
              <a:tr h="65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Sprint 4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7-8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CRUD Complete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Full file management, UI integration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Aayush: Updates/deletes, Kalyan: File UI, Albert: Testing</a:t>
                      </a:r>
                    </a:p>
                  </a:txBody>
                  <a:tcPr marL="52525" marR="52525" marT="0" marB="0"/>
                </a:tc>
                <a:extLst>
                  <a:ext uri="{0D108BD9-81ED-4DB2-BD59-A6C34878D82A}">
                    <a16:rowId xmlns:a16="http://schemas.microsoft.com/office/drawing/2014/main" val="974622299"/>
                  </a:ext>
                </a:extLst>
              </a:tr>
              <a:tr h="658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Sprint 5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9-10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Collaboration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Bonded spaces, group functionality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Aayush: Group backend, Kalyan: Group UI, Albert: Access testing</a:t>
                      </a:r>
                    </a:p>
                  </a:txBody>
                  <a:tcPr marL="52525" marR="52525" marT="0" marB="0"/>
                </a:tc>
                <a:extLst>
                  <a:ext uri="{0D108BD9-81ED-4DB2-BD59-A6C34878D82A}">
                    <a16:rowId xmlns:a16="http://schemas.microsoft.com/office/drawing/2014/main" val="3929878974"/>
                  </a:ext>
                </a:extLst>
              </a:tr>
              <a:tr h="44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Sprint 6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11-12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Sharing &amp; Polish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Link sharing, testing, documentation</a:t>
                      </a:r>
                    </a:p>
                  </a:txBody>
                  <a:tcPr marL="52525" marR="52525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ffectLst/>
                          <a:latin typeface="Times New Roman"/>
                          <a:cs typeface="Times New Roman"/>
                        </a:rPr>
                        <a:t>All: Integration and finalization</a:t>
                      </a:r>
                    </a:p>
                  </a:txBody>
                  <a:tcPr marL="52525" marR="52525" marT="0" marB="0"/>
                </a:tc>
                <a:extLst>
                  <a:ext uri="{0D108BD9-81ED-4DB2-BD59-A6C34878D82A}">
                    <a16:rowId xmlns:a16="http://schemas.microsoft.com/office/drawing/2014/main" val="1204031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3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8214E-6F90-E8CB-53E4-D95BBD3A69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bg1"/>
                </a:solidFill>
                <a:latin typeface="Times New Roman"/>
                <a:cs typeface="Times New Roman"/>
              </a:rPr>
              <a:t>4.c High Level Design of System</a:t>
            </a:r>
            <a:br>
              <a:rPr lang="en-US" sz="4000" dirty="0">
                <a:solidFill>
                  <a:schemeClr val="bg1"/>
                </a:solidFill>
                <a:latin typeface="Times New Roman"/>
                <a:cs typeface="Times New Roman"/>
              </a:rPr>
            </a:br>
            <a:r>
              <a:rPr lang="en-US" sz="4000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000" kern="1200" dirty="0">
                <a:solidFill>
                  <a:schemeClr val="bg1"/>
                </a:solidFill>
                <a:latin typeface="Times New Roman"/>
                <a:cs typeface="Times New Roman"/>
              </a:rPr>
              <a:t>(</a:t>
            </a:r>
            <a:r>
              <a:rPr lang="en-US" sz="4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000" kern="1200" dirty="0">
                <a:solidFill>
                  <a:schemeClr val="bg1"/>
                </a:solidFill>
                <a:latin typeface="Times New Roman"/>
                <a:cs typeface="Times New Roman"/>
              </a:rPr>
              <a:t>How it works</a:t>
            </a:r>
            <a:r>
              <a:rPr lang="en-US" sz="4000" dirty="0">
                <a:solidFill>
                  <a:schemeClr val="bg1"/>
                </a:solidFill>
                <a:latin typeface="Times New Roman"/>
                <a:cs typeface="Times New Roman"/>
              </a:rPr>
              <a:t> ? )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US" sz="4000" kern="1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5845-A406-2127-30E8-A76A2976623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Simple flow :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User opens browser → Frontend shows login page 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Enter credentials → Frontend sends to Backend 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Backend checks → returns success.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Dashboard loads → User uploads file → Backend saves to local folder.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600" dirty="0">
                <a:latin typeface="Times New Roman"/>
                <a:cs typeface="Times New Roman"/>
              </a:rPr>
              <a:t>User generates share link → others download.</a:t>
            </a:r>
          </a:p>
          <a:p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284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589B-CFBA-B2FF-15CB-1CF3C5DF4E1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04209" y="678611"/>
            <a:ext cx="3681922" cy="36625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3600" dirty="0">
                <a:latin typeface="Times New Roman"/>
                <a:cs typeface="Times New Roman"/>
              </a:rPr>
            </a:br>
            <a:r>
              <a:rPr lang="en-US" sz="3600" kern="1200" dirty="0">
                <a:latin typeface="Times New Roman"/>
                <a:cs typeface="Times New Roman"/>
              </a:rPr>
              <a:t>5. Expected Outcome</a:t>
            </a:r>
            <a:br>
              <a:rPr lang="en-US" sz="3600" dirty="0">
                <a:latin typeface="Times New Roman"/>
                <a:cs typeface="Times New Roman"/>
              </a:rPr>
            </a:br>
            <a:endParaRPr lang="en-US" sz="3600" kern="1200" dirty="0">
              <a:latin typeface="Times New Roman"/>
              <a:cs typeface="Times New Roman"/>
            </a:endParaRPr>
          </a:p>
          <a:p>
            <a:endParaRPr lang="en-US" sz="3600" kern="1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A73C7-8DFC-A442-7C12-F66142B37A2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10107" y="1304623"/>
            <a:ext cx="5003634" cy="32953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Working prototype on laptops (localhost demo).</a:t>
            </a:r>
          </a:p>
          <a:p>
            <a:r>
              <a:rPr lang="en-US" sz="1600" dirty="0">
                <a:latin typeface="Times New Roman"/>
                <a:cs typeface="Times New Roman"/>
              </a:rPr>
              <a:t>User login/registration interface (frontend).</a:t>
            </a:r>
          </a:p>
          <a:p>
            <a:r>
              <a:rPr lang="en-US" sz="1600" dirty="0">
                <a:latin typeface="Times New Roman"/>
                <a:cs typeface="Times New Roman"/>
              </a:rPr>
              <a:t>Upload, download, list, delete files.</a:t>
            </a:r>
          </a:p>
          <a:p>
            <a:r>
              <a:rPr lang="en-US" sz="1600" dirty="0">
                <a:latin typeface="Times New Roman"/>
                <a:cs typeface="Times New Roman"/>
              </a:rPr>
              <a:t>Basic sharing via links.</a:t>
            </a:r>
          </a:p>
          <a:p>
            <a:r>
              <a:rPr lang="en-US" sz="1600" dirty="0">
                <a:latin typeface="Times New Roman"/>
                <a:cs typeface="Times New Roman"/>
              </a:rPr>
              <a:t>Responsive frontend (HTML/CSS/JS → React).</a:t>
            </a:r>
          </a:p>
          <a:p>
            <a:r>
              <a:rPr lang="en-US" sz="1600" dirty="0">
                <a:latin typeface="Times New Roman"/>
                <a:cs typeface="Times New Roman"/>
              </a:rPr>
              <a:t>Live demo: Upload file on one laptop, access/share from another.</a:t>
            </a:r>
          </a:p>
          <a:p>
            <a:r>
              <a:rPr lang="en-US" sz="1600" dirty="0">
                <a:latin typeface="Times New Roman"/>
                <a:cs typeface="Times New Roman"/>
              </a:rPr>
              <a:t>Foundation for future improvements (security, online hosting).</a:t>
            </a:r>
          </a:p>
          <a:p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47" name="Freeform: Shape 13">
            <a:extLst>
              <a:ext uri="{FF2B5EF4-FFF2-40B4-BE49-F238E27FC236}">
                <a16:creationId xmlns:a16="http://schemas.microsoft.com/office/drawing/2014/main" id="{3A45B268-BBDB-4EC6-A664-CED7BF60D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4207" y="361702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1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FAEF8-4D2E-E4AD-40DA-CD07875B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245" y="696037"/>
            <a:ext cx="1017204" cy="1017204"/>
          </a:xfrm>
          <a:prstGeom prst="rect">
            <a:avLst/>
          </a:prstGeom>
        </p:spPr>
      </p:pic>
      <p:sp>
        <p:nvSpPr>
          <p:cNvPr id="49" name="Freeform: Shape 17">
            <a:extLst>
              <a:ext uri="{FF2B5EF4-FFF2-40B4-BE49-F238E27FC236}">
                <a16:creationId xmlns:a16="http://schemas.microsoft.com/office/drawing/2014/main" id="{B78B55DD-3C55-4B94-9031-4F3723BD4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8624" y="2"/>
            <a:ext cx="3913376" cy="3281569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19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omputer screen with a person in the circle&#10;&#10;AI-generated content may be incorrect.">
            <a:extLst>
              <a:ext uri="{FF2B5EF4-FFF2-40B4-BE49-F238E27FC236}">
                <a16:creationId xmlns:a16="http://schemas.microsoft.com/office/drawing/2014/main" id="{559384FE-66EA-37ED-760F-D0A678B4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176" y="337711"/>
            <a:ext cx="2213034" cy="2213034"/>
          </a:xfrm>
          <a:prstGeom prst="rect">
            <a:avLst/>
          </a:prstGeom>
        </p:spPr>
      </p:pic>
      <p:sp>
        <p:nvSpPr>
          <p:cNvPr id="51" name="Freeform: Shape 21">
            <a:extLst>
              <a:ext uri="{FF2B5EF4-FFF2-40B4-BE49-F238E27FC236}">
                <a16:creationId xmlns:a16="http://schemas.microsoft.com/office/drawing/2014/main" id="{42D9BB05-ED63-4148-87AB-82720ACC3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8614" y="4769536"/>
            <a:ext cx="3950208" cy="2088462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23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3162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Freeform: Shape 25">
            <a:extLst>
              <a:ext uri="{FF2B5EF4-FFF2-40B4-BE49-F238E27FC236}">
                <a16:creationId xmlns:a16="http://schemas.microsoft.com/office/drawing/2014/main" id="{5B00B48C-8AA7-4128-AD60-76349F0CE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6020" y="2715337"/>
            <a:ext cx="2743200" cy="27432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1428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5F060-25E4-97CA-888D-1BBF39000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456" y="3261826"/>
            <a:ext cx="1650222" cy="165022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E3E3BE-C975-AC36-3808-53A23F9CD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266" y="5356746"/>
            <a:ext cx="1300086" cy="1300086"/>
          </a:xfrm>
          <a:prstGeom prst="rect">
            <a:avLst/>
          </a:prstGeom>
        </p:spPr>
      </p:pic>
      <p:sp>
        <p:nvSpPr>
          <p:cNvPr id="55" name="Freeform: Shape 29">
            <a:extLst>
              <a:ext uri="{FF2B5EF4-FFF2-40B4-BE49-F238E27FC236}">
                <a16:creationId xmlns:a16="http://schemas.microsoft.com/office/drawing/2014/main" id="{0760511E-86BF-4340-9949-CECB774FA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9416" y="4131546"/>
            <a:ext cx="3178912" cy="2726454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Freeform: Shape 31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blue light bulb with a gear inside&#10;&#10;AI-generated content may be incorrect.">
            <a:extLst>
              <a:ext uri="{FF2B5EF4-FFF2-40B4-BE49-F238E27FC236}">
                <a16:creationId xmlns:a16="http://schemas.microsoft.com/office/drawing/2014/main" id="{81998D48-1673-8DF2-A027-28822C1CE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1966" y="4773845"/>
            <a:ext cx="1746444" cy="174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46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0444A-E5A8-0F19-1DF5-5F6F5D9BB4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53933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Times New Roman"/>
                <a:cs typeface="Times New Roman"/>
              </a:rPr>
              <a:t>6. References</a:t>
            </a:r>
          </a:p>
          <a:p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7" name="Freeform: Shape 28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1660-7F37-6141-D257-F493BD02C1C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Google Drive – Official Website &amp; Documentation</a:t>
            </a:r>
          </a:p>
          <a:p>
            <a:r>
              <a:rPr lang="en-US" sz="1600" dirty="0">
                <a:latin typeface="Times New Roman"/>
                <a:cs typeface="Times New Roman"/>
              </a:rPr>
              <a:t>Dropbox – Official Website</a:t>
            </a:r>
          </a:p>
          <a:p>
            <a:r>
              <a:rPr lang="en-US" sz="1600" dirty="0">
                <a:latin typeface="Times New Roman"/>
                <a:cs typeface="Times New Roman"/>
              </a:rPr>
              <a:t>Microsoft OneDrive – Official Website</a:t>
            </a:r>
          </a:p>
          <a:p>
            <a:r>
              <a:rPr lang="en-US" sz="1600" dirty="0">
                <a:latin typeface="Times New Roman"/>
                <a:cs typeface="Times New Roman"/>
                <a:hlinkClick r:id="rId2"/>
              </a:rPr>
              <a:t>Nextcloud</a:t>
            </a:r>
            <a:r>
              <a:rPr lang="en-US" sz="1600" dirty="0">
                <a:latin typeface="Times New Roman"/>
                <a:cs typeface="Times New Roman"/>
              </a:rPr>
              <a:t> – Official Documentation</a:t>
            </a:r>
          </a:p>
          <a:p>
            <a:r>
              <a:rPr lang="en-US" sz="1600" dirty="0">
                <a:latin typeface="Times New Roman"/>
                <a:cs typeface="Times New Roman"/>
                <a:hlinkClick r:id="rId3"/>
              </a:rPr>
              <a:t>React</a:t>
            </a:r>
            <a:r>
              <a:rPr lang="en-US" sz="1600" dirty="0">
                <a:latin typeface="Times New Roman"/>
                <a:cs typeface="Times New Roman"/>
              </a:rPr>
              <a:t> – Official Documentation</a:t>
            </a:r>
          </a:p>
          <a:p>
            <a:r>
              <a:rPr lang="en-US" sz="1600" dirty="0">
                <a:latin typeface="Times New Roman"/>
                <a:cs typeface="Times New Roman"/>
                <a:hlinkClick r:id="rId4"/>
              </a:rPr>
              <a:t>Node.js</a:t>
            </a:r>
            <a:r>
              <a:rPr lang="en-US" sz="1600" dirty="0">
                <a:latin typeface="Times New Roman"/>
                <a:cs typeface="Times New Roman"/>
              </a:rPr>
              <a:t> – Official Documentation</a:t>
            </a:r>
          </a:p>
          <a:p>
            <a:r>
              <a:rPr lang="en-US" sz="1600" dirty="0">
                <a:latin typeface="Times New Roman"/>
                <a:cs typeface="Times New Roman"/>
                <a:hlinkClick r:id="rId5"/>
              </a:rPr>
              <a:t>Express.js</a:t>
            </a:r>
            <a:r>
              <a:rPr lang="en-US" sz="1600" dirty="0">
                <a:latin typeface="Times New Roman"/>
                <a:cs typeface="Times New Roman"/>
              </a:rPr>
              <a:t> – Official Documentation</a:t>
            </a:r>
          </a:p>
          <a:p>
            <a:r>
              <a:rPr lang="en-US" sz="1600" dirty="0">
                <a:latin typeface="Times New Roman"/>
                <a:cs typeface="Times New Roman"/>
                <a:hlinkClick r:id="rId6"/>
              </a:rPr>
              <a:t>MongoDB</a:t>
            </a:r>
            <a:r>
              <a:rPr lang="en-US" sz="1600" dirty="0">
                <a:latin typeface="Times New Roman"/>
                <a:cs typeface="Times New Roman"/>
              </a:rPr>
              <a:t> / </a:t>
            </a:r>
            <a:r>
              <a:rPr lang="en-US" sz="1600" dirty="0">
                <a:latin typeface="Times New Roman"/>
                <a:cs typeface="Times New Roman"/>
                <a:hlinkClick r:id="rId7"/>
              </a:rPr>
              <a:t>SQLite</a:t>
            </a:r>
            <a:r>
              <a:rPr lang="en-US" sz="1600" dirty="0">
                <a:latin typeface="Times New Roman"/>
                <a:cs typeface="Times New Roman"/>
              </a:rPr>
              <a:t> – Official Documentation</a:t>
            </a:r>
          </a:p>
          <a:p>
            <a:r>
              <a:rPr lang="en-US" sz="1600" dirty="0">
                <a:latin typeface="Times New Roman"/>
                <a:cs typeface="Times New Roman"/>
                <a:hlinkClick r:id="rId8"/>
              </a:rPr>
              <a:t>JSON Web Token</a:t>
            </a:r>
            <a:r>
              <a:rPr lang="en-US" sz="1600" dirty="0">
                <a:latin typeface="Times New Roman"/>
                <a:cs typeface="Times New Roman"/>
              </a:rPr>
              <a:t> (JWT) – Official Documentation</a:t>
            </a:r>
          </a:p>
          <a:p>
            <a:r>
              <a:rPr lang="en-US" sz="1600" dirty="0">
                <a:latin typeface="Times New Roman"/>
                <a:cs typeface="Times New Roman"/>
                <a:hlinkClick r:id="rId9"/>
              </a:rPr>
              <a:t>bcrypt</a:t>
            </a:r>
            <a:r>
              <a:rPr lang="en-US" sz="1600" dirty="0">
                <a:latin typeface="Times New Roman"/>
                <a:cs typeface="Times New Roman"/>
              </a:rPr>
              <a:t> – Official Documentation</a:t>
            </a:r>
          </a:p>
          <a:p>
            <a:pPr marL="0"/>
            <a:endParaRPr lang="en-US" sz="180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999CA-330A-218F-3F4E-BA3AF5BEEC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59" name="Freeform: Shape 32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36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38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3" name="Freeform: Shape 40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0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Remote Cloud Storage  Project Proposal –  BSc CSIT 7th Semester</vt:lpstr>
      <vt:lpstr>Introduction</vt:lpstr>
      <vt:lpstr>PowerPoint Presentation</vt:lpstr>
      <vt:lpstr>2. Problem Statement </vt:lpstr>
      <vt:lpstr>3.  Objectives </vt:lpstr>
      <vt:lpstr>4. Methodology </vt:lpstr>
      <vt:lpstr> 4.a Requirement Identification  </vt:lpstr>
      <vt:lpstr>4.b Feasibility Study </vt:lpstr>
      <vt:lpstr> 4.b Feasibility Study</vt:lpstr>
      <vt:lpstr>Schedule   Sprint-Based Timeline (12 Weeks) </vt:lpstr>
      <vt:lpstr>4.c High Level Design of System  ( How it works ? ) </vt:lpstr>
      <vt:lpstr> 5. Expected Outcome  </vt:lpstr>
      <vt:lpstr>6. 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416</cp:revision>
  <dcterms:created xsi:type="dcterms:W3CDTF">2026-02-26T10:35:26Z</dcterms:created>
  <dcterms:modified xsi:type="dcterms:W3CDTF">2026-02-26T14:44:01Z</dcterms:modified>
</cp:coreProperties>
</file>