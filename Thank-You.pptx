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Platypi Medium"/>
      <p:regular r:id="rId8"/>
    </p:embeddedFont>
    <p:embeddedFont>
      <p:font typeface="Platypi Medium"/>
      <p:regular r:id="rId9"/>
    </p:embeddedFont>
    <p:embeddedFont>
      <p:font typeface="Platypi Medium"/>
      <p:regular r:id="rId10"/>
    </p:embeddedFont>
    <p:embeddedFont>
      <p:font typeface="Platypi Medium"/>
      <p:regular r:id="rId11"/>
    </p:embeddedFont>
    <p:embeddedFont>
      <p:font typeface="Source Serif 4"/>
      <p:regular r:id="rId12"/>
    </p:embeddedFont>
    <p:embeddedFont>
      <p:font typeface="Source Serif 4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44870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Hamro Cloud — Remote Cloud Storage System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487189"/>
            <a:ext cx="489093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Kalyan Kandel · Aayush Subedi · Albert Baral  | 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Supervisor: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Bindu Aryal  | 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Birendra Multiple Campus, CSIT, Tribhuvan University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 |  May 2026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2126531" y="714821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75483" y="777627"/>
            <a:ext cx="2461096" cy="1385218"/>
          </a:xfrm>
          <a:prstGeom prst="roundRect">
            <a:avLst>
              <a:gd name="adj" fmla="val 768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2146325" y="813048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146325" y="959197"/>
            <a:ext cx="231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File sharing over WhatsApp and email is messy and disorganized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single place to store and access files from anywhere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control over who can access what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Files get lost or duplicated across devices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2146325" y="1371898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Solution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146325" y="1518047"/>
            <a:ext cx="2319412" cy="6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Web-based remote cloud storage platform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Upload, manage, share, and organize files securely from anywhere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Secure login, personal storage, group collaboration through Bonds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File sharing with individuals or groups via a clean responsive interface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4663232" y="813048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663232" y="959197"/>
            <a:ext cx="2359000" cy="657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Secure user authentication with JWT and bcrypt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Upload and download files remotely from any device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Group-based collaboration through Bonds with Admin and Member roles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Share files directly with a person by email or with an entire group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Responsive and intuitive web interface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 API communication between frontend and backend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126531" y="2220367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126531" y="229649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6531" y="2526804"/>
            <a:ext cx="1606674" cy="748308"/>
          </a:xfrm>
          <a:prstGeom prst="roundRect">
            <a:avLst>
              <a:gd name="adj" fmla="val 1421"/>
            </a:avLst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2197373" y="2597646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 Features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197373" y="2729582"/>
            <a:ext cx="1464990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Register and login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Upload and download files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Delete own files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View storage usage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3768626" y="2526804"/>
            <a:ext cx="1606674" cy="748308"/>
          </a:xfrm>
          <a:prstGeom prst="roundRect">
            <a:avLst>
              <a:gd name="adj" fmla="val 1421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3839468" y="2597646"/>
            <a:ext cx="146982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Group Features (Bonds)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839468" y="2729582"/>
            <a:ext cx="1464990" cy="361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Admin:</a:t>
            </a:r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Create group, invite/remove members, delete any file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Member: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Upload/download files, delete own files, leave group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5410721" y="2526804"/>
            <a:ext cx="1606748" cy="748308"/>
          </a:xfrm>
          <a:prstGeom prst="roundRect">
            <a:avLst>
              <a:gd name="adj" fmla="val 1421"/>
            </a:avLst>
          </a:prstGeom>
          <a:solidFill>
            <a:srgbClr val="F9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1563" y="2597646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Security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481563" y="2729582"/>
            <a:ext cx="1465064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JWT token authentication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bcrypt password hashing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Protected API routes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Input sanitization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Byte-level file type validation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2126531" y="3332634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26531" y="3408759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26531" y="3639071"/>
            <a:ext cx="4890939" cy="557510"/>
          </a:xfrm>
          <a:prstGeom prst="roundRect">
            <a:avLst>
              <a:gd name="adj" fmla="val 190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1293" y="3643833"/>
            <a:ext cx="4881414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202359" y="3669804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Frontend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3180978" y="3669804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Backend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4157216" y="3669804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Database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5133454" y="3669804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Auth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6109692" y="3669804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File Upload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2131293" y="3780830"/>
            <a:ext cx="4881414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202359" y="3806800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HTML, CSS, JavaScript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180978" y="3806800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Node.js, Express.js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4157216" y="3806800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SQLite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5133454" y="3806800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JWT, bcrypt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6109692" y="3806800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Multer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2131293" y="3917826"/>
            <a:ext cx="4881414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202359" y="3943796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Email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3180978" y="3943796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Version Control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4157216" y="3943796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5133454" y="3943796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6109692" y="3943796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2131293" y="4054822"/>
            <a:ext cx="4881414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202359" y="4080793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Nodemailer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180978" y="4080793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Git, GitHub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4157216" y="4080793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5133454" y="4080793"/>
            <a:ext cx="128699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6109692" y="4080793"/>
            <a:ext cx="12893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2126531" y="4254103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126531" y="4330229"/>
            <a:ext cx="187917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Architecture</a:t>
            </a:r>
            <a:endParaRPr lang="en-US" sz="1100" dirty="0"/>
          </a:p>
        </p:txBody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697" y="4560540"/>
            <a:ext cx="4850606" cy="2091705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2473080" y="6255580"/>
            <a:ext cx="1557645" cy="13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Auth Middleware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2473080" y="5771384"/>
            <a:ext cx="1557645" cy="13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Express API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2473080" y="5292079"/>
            <a:ext cx="1557645" cy="13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Frontend UI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2473080" y="4807883"/>
            <a:ext cx="1557645" cy="13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2126531" y="6692057"/>
            <a:ext cx="489093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Requests flow from the user through the frontend UI to the Express API server, where authentication middleware validates tokens before routing to the appropriate handler and persisting data in SQLite.</a:t>
            </a:r>
            <a:endParaRPr lang="en-US" sz="550" dirty="0"/>
          </a:p>
        </p:txBody>
      </p:sp>
      <p:sp>
        <p:nvSpPr>
          <p:cNvPr id="58" name="Shape 55"/>
          <p:cNvSpPr/>
          <p:nvPr/>
        </p:nvSpPr>
        <p:spPr>
          <a:xfrm>
            <a:off x="2126531" y="6919689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2126531" y="6995815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2126531" y="8360346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Seven tables form the data layer of Hamro Cloud, managing users, files, groups, invitations, and direct shares.</a:t>
            </a:r>
            <a:endParaRPr lang="en-US" sz="550" dirty="0"/>
          </a:p>
        </p:txBody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32" y="7265938"/>
            <a:ext cx="2359000" cy="2359000"/>
          </a:xfrm>
          <a:prstGeom prst="rect">
            <a:avLst/>
          </a:prstGeom>
        </p:spPr>
      </p:pic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265938"/>
            <a:ext cx="2359000" cy="2359000"/>
          </a:xfrm>
          <a:prstGeom prst="rect">
            <a:avLst/>
          </a:prstGeom>
        </p:spPr>
      </p:pic>
      <p:sp>
        <p:nvSpPr>
          <p:cNvPr id="63" name="Shape 58"/>
          <p:cNvSpPr/>
          <p:nvPr/>
        </p:nvSpPr>
        <p:spPr>
          <a:xfrm>
            <a:off x="2126531" y="9722272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64" name="Text 59"/>
          <p:cNvSpPr/>
          <p:nvPr/>
        </p:nvSpPr>
        <p:spPr>
          <a:xfrm>
            <a:off x="2126531" y="9798397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2126531" y="10028709"/>
            <a:ext cx="4890939" cy="864617"/>
          </a:xfrm>
          <a:prstGeom prst="roundRect">
            <a:avLst>
              <a:gd name="adj" fmla="val 123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2131293" y="10033471"/>
            <a:ext cx="4881414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7" name="Text 62"/>
          <p:cNvSpPr/>
          <p:nvPr/>
        </p:nvSpPr>
        <p:spPr>
          <a:xfrm>
            <a:off x="2202210" y="10059442"/>
            <a:ext cx="104529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Category</a:t>
            </a:r>
            <a:endParaRPr lang="en-US" sz="550" dirty="0"/>
          </a:p>
        </p:txBody>
      </p:sp>
      <p:sp>
        <p:nvSpPr>
          <p:cNvPr id="68" name="Text 63"/>
          <p:cNvSpPr/>
          <p:nvPr/>
        </p:nvSpPr>
        <p:spPr>
          <a:xfrm>
            <a:off x="2936751" y="10059442"/>
            <a:ext cx="23609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Endpoints</a:t>
            </a:r>
            <a:endParaRPr lang="en-US" sz="550" dirty="0"/>
          </a:p>
        </p:txBody>
      </p:sp>
      <p:sp>
        <p:nvSpPr>
          <p:cNvPr id="69" name="Text 64"/>
          <p:cNvSpPr/>
          <p:nvPr/>
        </p:nvSpPr>
        <p:spPr>
          <a:xfrm>
            <a:off x="4986933" y="10059442"/>
            <a:ext cx="24121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Description</a:t>
            </a:r>
            <a:endParaRPr lang="en-US" sz="550" dirty="0"/>
          </a:p>
        </p:txBody>
      </p:sp>
      <p:sp>
        <p:nvSpPr>
          <p:cNvPr id="70" name="Shape 65"/>
          <p:cNvSpPr/>
          <p:nvPr/>
        </p:nvSpPr>
        <p:spPr>
          <a:xfrm>
            <a:off x="2131293" y="10170468"/>
            <a:ext cx="4881414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1" name="Text 66"/>
          <p:cNvSpPr/>
          <p:nvPr/>
        </p:nvSpPr>
        <p:spPr>
          <a:xfrm>
            <a:off x="2202210" y="10196438"/>
            <a:ext cx="104529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Auth</a:t>
            </a:r>
            <a:endParaRPr lang="en-US" sz="550" dirty="0"/>
          </a:p>
        </p:txBody>
      </p:sp>
      <p:sp>
        <p:nvSpPr>
          <p:cNvPr id="72" name="Text 67"/>
          <p:cNvSpPr/>
          <p:nvPr/>
        </p:nvSpPr>
        <p:spPr>
          <a:xfrm>
            <a:off x="2936751" y="10196438"/>
            <a:ext cx="23609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register, login, forgot-password, reset-password</a:t>
            </a:r>
            <a:endParaRPr lang="en-US" sz="550" dirty="0"/>
          </a:p>
        </p:txBody>
      </p:sp>
      <p:sp>
        <p:nvSpPr>
          <p:cNvPr id="73" name="Text 68"/>
          <p:cNvSpPr/>
          <p:nvPr/>
        </p:nvSpPr>
        <p:spPr>
          <a:xfrm>
            <a:off x="4986933" y="10196438"/>
            <a:ext cx="24121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 authentication and password recovery</a:t>
            </a:r>
            <a:endParaRPr lang="en-US" sz="550" dirty="0"/>
          </a:p>
        </p:txBody>
      </p:sp>
      <p:sp>
        <p:nvSpPr>
          <p:cNvPr id="74" name="Shape 69"/>
          <p:cNvSpPr/>
          <p:nvPr/>
        </p:nvSpPr>
        <p:spPr>
          <a:xfrm>
            <a:off x="2131293" y="10307464"/>
            <a:ext cx="4881414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5" name="Text 70"/>
          <p:cNvSpPr/>
          <p:nvPr/>
        </p:nvSpPr>
        <p:spPr>
          <a:xfrm>
            <a:off x="2202210" y="10333434"/>
            <a:ext cx="104529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Files</a:t>
            </a:r>
            <a:endParaRPr lang="en-US" sz="550" dirty="0"/>
          </a:p>
        </p:txBody>
      </p:sp>
      <p:sp>
        <p:nvSpPr>
          <p:cNvPr id="76" name="Text 71"/>
          <p:cNvSpPr/>
          <p:nvPr/>
        </p:nvSpPr>
        <p:spPr>
          <a:xfrm>
            <a:off x="2936751" y="10333434"/>
            <a:ext cx="23609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upload, download, delete, share-with-person</a:t>
            </a:r>
            <a:endParaRPr lang="en-US" sz="550" dirty="0"/>
          </a:p>
        </p:txBody>
      </p:sp>
      <p:sp>
        <p:nvSpPr>
          <p:cNvPr id="77" name="Text 72"/>
          <p:cNvSpPr/>
          <p:nvPr/>
        </p:nvSpPr>
        <p:spPr>
          <a:xfrm>
            <a:off x="4986933" y="10333434"/>
            <a:ext cx="24121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Personal file management and direct sharing</a:t>
            </a:r>
            <a:endParaRPr lang="en-US" sz="550" dirty="0"/>
          </a:p>
        </p:txBody>
      </p:sp>
      <p:sp>
        <p:nvSpPr>
          <p:cNvPr id="78" name="Shape 73"/>
          <p:cNvSpPr/>
          <p:nvPr/>
        </p:nvSpPr>
        <p:spPr>
          <a:xfrm>
            <a:off x="2131293" y="10444460"/>
            <a:ext cx="4881414" cy="222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9" name="Text 74"/>
          <p:cNvSpPr/>
          <p:nvPr/>
        </p:nvSpPr>
        <p:spPr>
          <a:xfrm>
            <a:off x="2202210" y="10470431"/>
            <a:ext cx="104529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Groups</a:t>
            </a:r>
            <a:endParaRPr lang="en-US" sz="550" dirty="0"/>
          </a:p>
        </p:txBody>
      </p:sp>
      <p:sp>
        <p:nvSpPr>
          <p:cNvPr id="80" name="Text 75"/>
          <p:cNvSpPr/>
          <p:nvPr/>
        </p:nvSpPr>
        <p:spPr>
          <a:xfrm>
            <a:off x="2936751" y="10470431"/>
            <a:ext cx="190373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create, invite-member, list-members, upload-to-group, leave-group, accept-invite, decline-invite</a:t>
            </a:r>
            <a:endParaRPr lang="en-US" sz="550" dirty="0"/>
          </a:p>
        </p:txBody>
      </p:sp>
      <p:sp>
        <p:nvSpPr>
          <p:cNvPr id="81" name="Text 76"/>
          <p:cNvSpPr/>
          <p:nvPr/>
        </p:nvSpPr>
        <p:spPr>
          <a:xfrm>
            <a:off x="4986933" y="10470431"/>
            <a:ext cx="24121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Bond group creation, membership, and collaboration</a:t>
            </a:r>
            <a:endParaRPr lang="en-US" sz="550" dirty="0"/>
          </a:p>
        </p:txBody>
      </p:sp>
      <p:sp>
        <p:nvSpPr>
          <p:cNvPr id="82" name="Shape 77"/>
          <p:cNvSpPr/>
          <p:nvPr/>
        </p:nvSpPr>
        <p:spPr>
          <a:xfrm>
            <a:off x="2131293" y="10666512"/>
            <a:ext cx="4881414" cy="222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3" name="Text 78"/>
          <p:cNvSpPr/>
          <p:nvPr/>
        </p:nvSpPr>
        <p:spPr>
          <a:xfrm>
            <a:off x="2202210" y="10692482"/>
            <a:ext cx="104529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</a:t>
            </a:r>
            <a:endParaRPr lang="en-US" sz="550" dirty="0"/>
          </a:p>
        </p:txBody>
      </p:sp>
      <p:sp>
        <p:nvSpPr>
          <p:cNvPr id="84" name="Text 79"/>
          <p:cNvSpPr/>
          <p:nvPr/>
        </p:nvSpPr>
        <p:spPr>
          <a:xfrm>
            <a:off x="2936751" y="10692482"/>
            <a:ext cx="190373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get-profile, update-profile, upload-avatar, get-storage, delete-account</a:t>
            </a:r>
            <a:endParaRPr lang="en-US" sz="550" dirty="0"/>
          </a:p>
        </p:txBody>
      </p:sp>
      <p:sp>
        <p:nvSpPr>
          <p:cNvPr id="85" name="Text 80"/>
          <p:cNvSpPr/>
          <p:nvPr/>
        </p:nvSpPr>
        <p:spPr>
          <a:xfrm>
            <a:off x="4986933" y="10692482"/>
            <a:ext cx="241213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Account management and storage overview</a:t>
            </a:r>
            <a:endParaRPr lang="en-US" sz="550" dirty="0"/>
          </a:p>
        </p:txBody>
      </p:sp>
      <p:sp>
        <p:nvSpPr>
          <p:cNvPr id="86" name="Shape 81"/>
          <p:cNvSpPr/>
          <p:nvPr/>
        </p:nvSpPr>
        <p:spPr>
          <a:xfrm>
            <a:off x="2126531" y="10950848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87" name="Text 82"/>
          <p:cNvSpPr/>
          <p:nvPr/>
        </p:nvSpPr>
        <p:spPr>
          <a:xfrm>
            <a:off x="2126531" y="11026973"/>
            <a:ext cx="190708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Mechanism</a:t>
            </a:r>
            <a:endParaRPr lang="en-US" sz="1100" dirty="0"/>
          </a:p>
        </p:txBody>
      </p:sp>
      <p:sp>
        <p:nvSpPr>
          <p:cNvPr id="88" name="Text 83"/>
          <p:cNvSpPr/>
          <p:nvPr/>
        </p:nvSpPr>
        <p:spPr>
          <a:xfrm>
            <a:off x="2126531" y="11257285"/>
            <a:ext cx="5989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550" dirty="0"/>
          </a:p>
        </p:txBody>
      </p:sp>
      <p:sp>
        <p:nvSpPr>
          <p:cNvPr id="89" name="Shape 84"/>
          <p:cNvSpPr/>
          <p:nvPr/>
        </p:nvSpPr>
        <p:spPr>
          <a:xfrm>
            <a:off x="2126531" y="11368162"/>
            <a:ext cx="1606674" cy="952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90" name="Text 85"/>
          <p:cNvSpPr/>
          <p:nvPr/>
        </p:nvSpPr>
        <p:spPr>
          <a:xfrm>
            <a:off x="2126531" y="11422633"/>
            <a:ext cx="155711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 registers and logs in</a:t>
            </a:r>
            <a:endParaRPr lang="en-US" sz="650" dirty="0"/>
          </a:p>
        </p:txBody>
      </p:sp>
      <p:sp>
        <p:nvSpPr>
          <p:cNvPr id="91" name="Text 86"/>
          <p:cNvSpPr/>
          <p:nvPr/>
        </p:nvSpPr>
        <p:spPr>
          <a:xfrm>
            <a:off x="3768626" y="11257285"/>
            <a:ext cx="5989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550" dirty="0"/>
          </a:p>
        </p:txBody>
      </p:sp>
      <p:sp>
        <p:nvSpPr>
          <p:cNvPr id="92" name="Shape 87"/>
          <p:cNvSpPr/>
          <p:nvPr/>
        </p:nvSpPr>
        <p:spPr>
          <a:xfrm>
            <a:off x="3768626" y="11368162"/>
            <a:ext cx="1606674" cy="952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93" name="Text 88"/>
          <p:cNvSpPr/>
          <p:nvPr/>
        </p:nvSpPr>
        <p:spPr>
          <a:xfrm>
            <a:off x="3768626" y="11422633"/>
            <a:ext cx="17415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JWT token stored in browser</a:t>
            </a:r>
            <a:endParaRPr lang="en-US" sz="650" dirty="0"/>
          </a:p>
        </p:txBody>
      </p:sp>
      <p:sp>
        <p:nvSpPr>
          <p:cNvPr id="94" name="Text 89"/>
          <p:cNvSpPr/>
          <p:nvPr/>
        </p:nvSpPr>
        <p:spPr>
          <a:xfrm>
            <a:off x="5410721" y="11257285"/>
            <a:ext cx="5989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550" dirty="0"/>
          </a:p>
        </p:txBody>
      </p:sp>
      <p:sp>
        <p:nvSpPr>
          <p:cNvPr id="95" name="Shape 90"/>
          <p:cNvSpPr/>
          <p:nvPr/>
        </p:nvSpPr>
        <p:spPr>
          <a:xfrm>
            <a:off x="5410721" y="11368162"/>
            <a:ext cx="1606748" cy="952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96" name="Text 91"/>
          <p:cNvSpPr/>
          <p:nvPr/>
        </p:nvSpPr>
        <p:spPr>
          <a:xfrm>
            <a:off x="5410721" y="11422633"/>
            <a:ext cx="160674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 uploads file via drag-and-drop or browse button</a:t>
            </a:r>
            <a:endParaRPr lang="en-US" sz="650" dirty="0"/>
          </a:p>
        </p:txBody>
      </p:sp>
      <p:sp>
        <p:nvSpPr>
          <p:cNvPr id="97" name="Text 92"/>
          <p:cNvSpPr/>
          <p:nvPr/>
        </p:nvSpPr>
        <p:spPr>
          <a:xfrm>
            <a:off x="2126531" y="11732642"/>
            <a:ext cx="5989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550" dirty="0"/>
          </a:p>
        </p:txBody>
      </p:sp>
      <p:sp>
        <p:nvSpPr>
          <p:cNvPr id="98" name="Shape 93"/>
          <p:cNvSpPr/>
          <p:nvPr/>
        </p:nvSpPr>
        <p:spPr>
          <a:xfrm>
            <a:off x="2126531" y="11843519"/>
            <a:ext cx="1606674" cy="952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99" name="Text 94"/>
          <p:cNvSpPr/>
          <p:nvPr/>
        </p:nvSpPr>
        <p:spPr>
          <a:xfrm>
            <a:off x="2126531" y="11897990"/>
            <a:ext cx="160667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validates token and checks file type</a:t>
            </a:r>
            <a:endParaRPr lang="en-US" sz="650" dirty="0"/>
          </a:p>
        </p:txBody>
      </p:sp>
      <p:sp>
        <p:nvSpPr>
          <p:cNvPr id="100" name="Text 95"/>
          <p:cNvSpPr/>
          <p:nvPr/>
        </p:nvSpPr>
        <p:spPr>
          <a:xfrm>
            <a:off x="3768626" y="11732642"/>
            <a:ext cx="5989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550" dirty="0"/>
          </a:p>
        </p:txBody>
      </p:sp>
      <p:sp>
        <p:nvSpPr>
          <p:cNvPr id="101" name="Shape 96"/>
          <p:cNvSpPr/>
          <p:nvPr/>
        </p:nvSpPr>
        <p:spPr>
          <a:xfrm>
            <a:off x="3768626" y="11843519"/>
            <a:ext cx="1606674" cy="952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2" name="Text 97"/>
          <p:cNvSpPr/>
          <p:nvPr/>
        </p:nvSpPr>
        <p:spPr>
          <a:xfrm>
            <a:off x="3768626" y="11897990"/>
            <a:ext cx="160667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File saved on server; metadata saved in database</a:t>
            </a:r>
            <a:endParaRPr lang="en-US" sz="650" dirty="0"/>
          </a:p>
        </p:txBody>
      </p:sp>
      <p:sp>
        <p:nvSpPr>
          <p:cNvPr id="103" name="Text 98"/>
          <p:cNvSpPr/>
          <p:nvPr/>
        </p:nvSpPr>
        <p:spPr>
          <a:xfrm>
            <a:off x="5410721" y="11732642"/>
            <a:ext cx="5989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06</a:t>
            </a:r>
            <a:endParaRPr lang="en-US" sz="550" dirty="0"/>
          </a:p>
        </p:txBody>
      </p:sp>
      <p:sp>
        <p:nvSpPr>
          <p:cNvPr id="104" name="Shape 99"/>
          <p:cNvSpPr/>
          <p:nvPr/>
        </p:nvSpPr>
        <p:spPr>
          <a:xfrm>
            <a:off x="5410721" y="11843519"/>
            <a:ext cx="1606748" cy="952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5" name="Text 100"/>
          <p:cNvSpPr/>
          <p:nvPr/>
        </p:nvSpPr>
        <p:spPr>
          <a:xfrm>
            <a:off x="5410721" y="11897990"/>
            <a:ext cx="160674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 shares file with a person by email or to a Bond group</a:t>
            </a:r>
            <a:endParaRPr lang="en-US" sz="650" dirty="0"/>
          </a:p>
        </p:txBody>
      </p:sp>
      <p:sp>
        <p:nvSpPr>
          <p:cNvPr id="106" name="Text 101"/>
          <p:cNvSpPr/>
          <p:nvPr/>
        </p:nvSpPr>
        <p:spPr>
          <a:xfrm>
            <a:off x="2126531" y="12207999"/>
            <a:ext cx="5989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07</a:t>
            </a:r>
            <a:endParaRPr lang="en-US" sz="550" dirty="0"/>
          </a:p>
        </p:txBody>
      </p:sp>
      <p:sp>
        <p:nvSpPr>
          <p:cNvPr id="107" name="Shape 102"/>
          <p:cNvSpPr/>
          <p:nvPr/>
        </p:nvSpPr>
        <p:spPr>
          <a:xfrm>
            <a:off x="2126531" y="12318876"/>
            <a:ext cx="4890939" cy="952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8" name="Text 103"/>
          <p:cNvSpPr/>
          <p:nvPr/>
        </p:nvSpPr>
        <p:spPr>
          <a:xfrm>
            <a:off x="2126531" y="12373347"/>
            <a:ext cx="267704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Group members see shared files in their dashboard</a:t>
            </a:r>
            <a:endParaRPr lang="en-US" sz="650" dirty="0"/>
          </a:p>
        </p:txBody>
      </p:sp>
      <p:sp>
        <p:nvSpPr>
          <p:cNvPr id="109" name="Shape 104"/>
          <p:cNvSpPr/>
          <p:nvPr/>
        </p:nvSpPr>
        <p:spPr>
          <a:xfrm>
            <a:off x="2126531" y="12594729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10" name="Text 105"/>
          <p:cNvSpPr/>
          <p:nvPr/>
        </p:nvSpPr>
        <p:spPr>
          <a:xfrm>
            <a:off x="2126531" y="12670854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UI Screenshots</a:t>
            </a:r>
            <a:endParaRPr lang="en-US" sz="1100" dirty="0"/>
          </a:p>
        </p:txBody>
      </p:sp>
      <p:sp>
        <p:nvSpPr>
          <p:cNvPr id="111" name="Text 106"/>
          <p:cNvSpPr/>
          <p:nvPr/>
        </p:nvSpPr>
        <p:spPr>
          <a:xfrm>
            <a:off x="2126531" y="1286217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Screens</a:t>
            </a:r>
            <a:endParaRPr lang="en-US" sz="650" dirty="0"/>
          </a:p>
        </p:txBody>
      </p:sp>
      <p:pic>
        <p:nvPicPr>
          <p:cNvPr id="1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31" y="13026033"/>
            <a:ext cx="689893" cy="426318"/>
          </a:xfrm>
          <a:prstGeom prst="rect">
            <a:avLst/>
          </a:prstGeom>
        </p:spPr>
      </p:pic>
      <p:sp>
        <p:nvSpPr>
          <p:cNvPr id="113" name="Text 107"/>
          <p:cNvSpPr/>
          <p:nvPr/>
        </p:nvSpPr>
        <p:spPr>
          <a:xfrm>
            <a:off x="2126531" y="13496627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Login Page</a:t>
            </a:r>
            <a:endParaRPr lang="en-US" sz="650" dirty="0"/>
          </a:p>
        </p:txBody>
      </p:sp>
      <p:pic>
        <p:nvPicPr>
          <p:cNvPr id="1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316" y="13026033"/>
            <a:ext cx="689893" cy="426318"/>
          </a:xfrm>
          <a:prstGeom prst="rect">
            <a:avLst/>
          </a:prstGeom>
        </p:spPr>
      </p:pic>
      <p:sp>
        <p:nvSpPr>
          <p:cNvPr id="115" name="Text 108"/>
          <p:cNvSpPr/>
          <p:nvPr/>
        </p:nvSpPr>
        <p:spPr>
          <a:xfrm>
            <a:off x="3360316" y="13496627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Dashboard</a:t>
            </a:r>
            <a:endParaRPr lang="en-US" sz="650" dirty="0"/>
          </a:p>
        </p:txBody>
      </p:sp>
      <p:pic>
        <p:nvPicPr>
          <p:cNvPr id="1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101" y="13026033"/>
            <a:ext cx="689893" cy="426318"/>
          </a:xfrm>
          <a:prstGeom prst="rect">
            <a:avLst/>
          </a:prstGeom>
        </p:spPr>
      </p:pic>
      <p:sp>
        <p:nvSpPr>
          <p:cNvPr id="117" name="Text 109"/>
          <p:cNvSpPr/>
          <p:nvPr/>
        </p:nvSpPr>
        <p:spPr>
          <a:xfrm>
            <a:off x="4594101" y="13496627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My Files Page</a:t>
            </a:r>
            <a:endParaRPr lang="en-US" sz="650" dirty="0"/>
          </a:p>
        </p:txBody>
      </p:sp>
      <p:pic>
        <p:nvPicPr>
          <p:cNvPr id="1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7886" y="13026033"/>
            <a:ext cx="689893" cy="42631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827886" y="13496627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Share Modal</a:t>
            </a:r>
            <a:endParaRPr lang="en-US" sz="650" dirty="0"/>
          </a:p>
        </p:txBody>
      </p:sp>
      <p:sp>
        <p:nvSpPr>
          <p:cNvPr id="120" name="Text 111"/>
          <p:cNvSpPr/>
          <p:nvPr/>
        </p:nvSpPr>
        <p:spPr>
          <a:xfrm>
            <a:off x="2126531" y="13660487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Groups &amp; Profile</a:t>
            </a:r>
            <a:endParaRPr lang="en-US" sz="650" dirty="0"/>
          </a:p>
        </p:txBody>
      </p:sp>
      <p:pic>
        <p:nvPicPr>
          <p:cNvPr id="1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6531" y="13824347"/>
            <a:ext cx="928390" cy="573732"/>
          </a:xfrm>
          <a:prstGeom prst="rect">
            <a:avLst/>
          </a:prstGeom>
        </p:spPr>
      </p:pic>
      <p:sp>
        <p:nvSpPr>
          <p:cNvPr id="122" name="Text 112"/>
          <p:cNvSpPr/>
          <p:nvPr/>
        </p:nvSpPr>
        <p:spPr>
          <a:xfrm>
            <a:off x="2126531" y="14442356"/>
            <a:ext cx="135433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Groups / Bonds Page</a:t>
            </a:r>
            <a:endParaRPr lang="en-US" sz="650" dirty="0"/>
          </a:p>
        </p:txBody>
      </p:sp>
      <p:pic>
        <p:nvPicPr>
          <p:cNvPr id="1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602" y="13824347"/>
            <a:ext cx="928390" cy="573732"/>
          </a:xfrm>
          <a:prstGeom prst="rect">
            <a:avLst/>
          </a:prstGeom>
        </p:spPr>
      </p:pic>
      <p:sp>
        <p:nvSpPr>
          <p:cNvPr id="124" name="Text 113"/>
          <p:cNvSpPr/>
          <p:nvPr/>
        </p:nvSpPr>
        <p:spPr>
          <a:xfrm>
            <a:off x="3771602" y="14442356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Group Detail Page</a:t>
            </a:r>
            <a:endParaRPr lang="en-US" sz="650" dirty="0"/>
          </a:p>
        </p:txBody>
      </p:sp>
      <p:pic>
        <p:nvPicPr>
          <p:cNvPr id="1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6674" y="13824347"/>
            <a:ext cx="928390" cy="573732"/>
          </a:xfrm>
          <a:prstGeom prst="rect">
            <a:avLst/>
          </a:prstGeom>
        </p:spPr>
      </p:pic>
      <p:sp>
        <p:nvSpPr>
          <p:cNvPr id="126" name="Text 114"/>
          <p:cNvSpPr/>
          <p:nvPr/>
        </p:nvSpPr>
        <p:spPr>
          <a:xfrm>
            <a:off x="5416674" y="14442356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Profile Page</a:t>
            </a:r>
            <a:endParaRPr lang="en-US" sz="650" dirty="0"/>
          </a:p>
        </p:txBody>
      </p:sp>
      <p:sp>
        <p:nvSpPr>
          <p:cNvPr id="127" name="Shape 115"/>
          <p:cNvSpPr/>
          <p:nvPr/>
        </p:nvSpPr>
        <p:spPr>
          <a:xfrm>
            <a:off x="2126531" y="14610606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28" name="Text 116"/>
          <p:cNvSpPr/>
          <p:nvPr/>
        </p:nvSpPr>
        <p:spPr>
          <a:xfrm>
            <a:off x="2126531" y="14708832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Challenges Faced</a:t>
            </a:r>
            <a:endParaRPr lang="en-US" sz="650" dirty="0"/>
          </a:p>
        </p:txBody>
      </p:sp>
      <p:sp>
        <p:nvSpPr>
          <p:cNvPr id="129" name="Text 117"/>
          <p:cNvSpPr/>
          <p:nvPr/>
        </p:nvSpPr>
        <p:spPr>
          <a:xfrm>
            <a:off x="2126531" y="14854982"/>
            <a:ext cx="2359000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Managing JWT tokens across multiple pages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File type security and preventing spoofed extensions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Handling Admin and Member role permissions inside groups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Building responsive UI for both desktop and mobile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Connecting frontend to backend API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Handling cross-origin requests between frontend and backend</a:t>
            </a:r>
            <a:endParaRPr lang="en-US" sz="550" dirty="0"/>
          </a:p>
        </p:txBody>
      </p:sp>
      <p:sp>
        <p:nvSpPr>
          <p:cNvPr id="130" name="Text 118"/>
          <p:cNvSpPr/>
          <p:nvPr/>
        </p:nvSpPr>
        <p:spPr>
          <a:xfrm>
            <a:off x="4663232" y="14708832"/>
            <a:ext cx="141148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Enhancements</a:t>
            </a:r>
            <a:endParaRPr lang="en-US" sz="650" dirty="0"/>
          </a:p>
        </p:txBody>
      </p:sp>
      <p:sp>
        <p:nvSpPr>
          <p:cNvPr id="131" name="Text 119"/>
          <p:cNvSpPr/>
          <p:nvPr/>
        </p:nvSpPr>
        <p:spPr>
          <a:xfrm>
            <a:off x="4663232" y="14854982"/>
            <a:ext cx="2359000" cy="669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 cloud storage integration with AWS or Firebase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End-to-end encryption for files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Dedicated mobile application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AI-powered file search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File versioning and revision history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Payment gateway integration with eSewa for premium plans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collaboration inside groups</a:t>
            </a:r>
            <a:endParaRPr lang="en-US" sz="550" dirty="0"/>
          </a:p>
        </p:txBody>
      </p:sp>
      <p:sp>
        <p:nvSpPr>
          <p:cNvPr id="132" name="Shape 120"/>
          <p:cNvSpPr/>
          <p:nvPr/>
        </p:nvSpPr>
        <p:spPr>
          <a:xfrm>
            <a:off x="2126531" y="15594360"/>
            <a:ext cx="4890939" cy="52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33" name="Shape 121"/>
          <p:cNvSpPr/>
          <p:nvPr/>
        </p:nvSpPr>
        <p:spPr>
          <a:xfrm>
            <a:off x="2075483" y="15657165"/>
            <a:ext cx="2461096" cy="841474"/>
          </a:xfrm>
          <a:prstGeom prst="roundRect">
            <a:avLst>
              <a:gd name="adj" fmla="val 1264"/>
            </a:avLst>
          </a:prstGeom>
          <a:solidFill>
            <a:srgbClr val="3E2513"/>
          </a:solidFill>
          <a:ln/>
        </p:spPr>
      </p:sp>
      <p:sp>
        <p:nvSpPr>
          <p:cNvPr id="134" name="Text 122"/>
          <p:cNvSpPr/>
          <p:nvPr/>
        </p:nvSpPr>
        <p:spPr>
          <a:xfrm>
            <a:off x="2146325" y="15692586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650" dirty="0"/>
          </a:p>
        </p:txBody>
      </p:sp>
      <p:sp>
        <p:nvSpPr>
          <p:cNvPr id="135" name="Text 123"/>
          <p:cNvSpPr/>
          <p:nvPr/>
        </p:nvSpPr>
        <p:spPr>
          <a:xfrm>
            <a:off x="2146325" y="15838736"/>
            <a:ext cx="2319412" cy="54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Hamro Cloud successfully demonstrates a secure and collaborative remote cloud storage platform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Features authentication, group-based file management through Bonds, and direct file sharing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Clean separation between frontend and backend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Ready for integration and deployment</a:t>
            </a:r>
            <a:endParaRPr lang="en-US" sz="550" dirty="0"/>
          </a:p>
        </p:txBody>
      </p:sp>
      <p:sp>
        <p:nvSpPr>
          <p:cNvPr id="136" name="Text 124"/>
          <p:cNvSpPr/>
          <p:nvPr/>
        </p:nvSpPr>
        <p:spPr>
          <a:xfrm>
            <a:off x="4663232" y="15692586"/>
            <a:ext cx="2816200" cy="305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137" name="Text 125"/>
          <p:cNvSpPr/>
          <p:nvPr/>
        </p:nvSpPr>
        <p:spPr>
          <a:xfrm>
            <a:off x="4663232" y="16033626"/>
            <a:ext cx="139972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Questions &amp; Answers</a:t>
            </a:r>
            <a:endParaRPr lang="en-US" sz="650" dirty="0"/>
          </a:p>
        </p:txBody>
      </p:sp>
      <p:sp>
        <p:nvSpPr>
          <p:cNvPr id="138" name="Text 126"/>
          <p:cNvSpPr/>
          <p:nvPr/>
        </p:nvSpPr>
        <p:spPr>
          <a:xfrm>
            <a:off x="4663232" y="16179775"/>
            <a:ext cx="2359000" cy="28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Team: Kalyan Kandel · Aayush Subedi · Albert Baral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Supervisor: Bindu Aryal  |  Birendra Multiple Campus, CSIT, Tribhuvan University  |  May 2026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2026-05-19T07:26:22Z</dcterms:created>
  <dcterms:modified xsi:type="dcterms:W3CDTF">2026-05-19T07:26:22Z</dcterms:modified>
</cp:coreProperties>
</file>